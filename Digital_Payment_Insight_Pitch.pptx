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37D9C5C7-5649-0D98-FA9B-4D4E23D7CEC0}">
          <p14:sldIdLst>
            <p14:sldId id="256"/>
          </p14:sldIdLst>
        </p14:section>
        <p14:section name="Findings" id="{24C07434-4DD8-890F-72A9-BACD9E340446}">
          <p14:sldIdLst>
            <p14:sldId id="257"/>
            <p14:sldId id="258"/>
            <p14:sldId id="259"/>
            <p14:sldId id="260"/>
          </p14:sldIdLst>
        </p14:section>
        <p14:section name="Recommendation" id="{3AEB13B4-E67A-406A-8F5D-B9F69BAE165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89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(30s): The ask today is a decision on how PaySphere points review capacity, not a request for new tooling.
Three numbers frame it. First, an IQR outlier rule flags 6.19% of transactions (11,278 of 182,125), roughly six times what a 99th-percentile tier flags by definition. Second, first-seen devices do not carry a higher fraud-label rate: 1.51% vs 1.65% for previously seen devices (baseline 1.64%). Third, about 63% of the simulated review queue comes from just two single-signal rules.
Our recommendation: prioritise combined-signal and extreme-amount cases, watch single flags rather than queueing them, and validate in a human-reviewed pilot.
SOURCES: Baseline stats (182,125 transactions; 2,990 labelled fraud; 1.64%; 11,278 IQR outliers; 5,000 users; 8,743 devices) from the verified source-data baseline. 1.51%, 1.65% and the ~63% queue share are read from the supplied charts (device_comparison, alert_reasons); the values are approximate to the pixel.
CAVEAT: Fraud label is original. Alerts, customer and device attributes are synthetic rule outputs — never describe them as real reviews or proven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"Normal" is a small-ticket, right-skewed distribution — so an outlier rule built for symmetric data over-flags.
Median 20.07 vs mean 27.30 confirms the skew; p95 is 72.86 and p99 is 124.50. IQR flags 11,278 transactions (6.19%). A p99 cut flags 1% by construction, about 1,821 transactions — so IQR produces ~6.2× the volume.
IMPLICATION: use percentile tiers for amount alerts (e.g., p95 for watch, p99 for review) and tune the thresholds in the pilot.
SOURCES: All figures from the verified baseline; ~1,821 = 1% × 182,125 (arithmetic). Histogram is the supplied chart and clips values above the 99.5th percentile for readability.
CAVEATS: Amount units undocumented — no currency symbol. Ranges shown are global; segment-level normal ranges depend on synthetic customer segments and were not part of the supplied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rule that generates the most alerts is not backed by a higher fraud-label rate.
Fraud-label rate by device novelty proxy: previously seen ~1.65%, first seen ~1.51%, unknown/missing device ~1.46%; overall baseline 1.64%. First-seen is 0.91× the previously-seen rate. Yet "first-seen user-device pair" is the largest reason in the simulated queue (~5.4k of ~16.7k, ~32%).
IMPLICATION: Do not queue a transaction on device novelty alone; treat it as one input to a combined score.
SOURCES: Values are read from the supplied charts and are approximate. Queue total ~16.7k is the sum of the five chart bars.
CAVEATS: "First seen" means first seen in the training data — a proxy, not a true new-device flag. Device attributes and alerts are synthetic. We have not tested significance; the claim is "no elevated rate", not "new devices are safer".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There is no single country, merchant category or time bucket that stands out enough to act on alone.
Geography: the highest fraud-label rate among the 15 country codes shown (n ≥ 100) is code 27 at ~2.04%, 1.24× the 1.64% baseline; the other 14 shown codes sit between ~1.63% and ~1.85%.
Time: volume is flat at roughly 228 transactions per elapsed-hour bin (182,125 across ~800 bins); apart from the final, partial bin, bins stay within about ±20%. That means no volume spike.
Merchant: synthetic alert rates across the top 15 encoded categories range from ~8.9% to ~10.1%.
IMPLICATION: Blocklist-style rules by country, merchant or time would add customer friction for little lift. Keep these as context features.
CAVEATS: Timestamp unit and reference are unverified — we make no claim about clock-hours. Country codes and merchant categories are encoded IDs; we have not named them. Merchant alert rates are rule-generated, so they reflect our rules rather than independent risk. No significance testing was done on the country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Most of the simulated queue comes from single weak signals; the smaller combined-signal and extreme-amount groups are the natural priority tier.
Chart-read counts: first-seen user-device pair ~5,370 (32%); low-tail previous-transaction gap ~5,230 (31%); multiple signals ~3,950 (24%); high amount ≥ source p99 ~1,660 (10%); incomplete device history ~520 (3%). Total ~16.7k.
PROPOSED TIERS: Tier 1 = multiple signals + high amount (~5.6k, ~34%) for analyst review first. Tier 2 = first-seen device and low-tail gap (~10.6k, ~63%) for sampled monitoring, not full review. Tier 3 = incomplete device history (~0.5k, ~3%) as a data-quality fix.
CAVEATS: This is a hypothesis. The simulated queue has no outcome labels, so we cannot yet say Tier 1 is riskier — that is exactly what the pilot measures. We have no evidence that the low-tail gap rule lacks signal; we simply have not seen a lift for it. Alerts are not real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Approve a pilot, not a rollout.
1) Tier the queue — Tier 1 (multi-signal + ≥ p99 amount) to analysts first; Tier 2 (first-seen device, low-tail gap) to sampled monitoring; Tier 3 (incomplete device history) is a data fix. 2) Retire blunt rules — replace the IQR fence with p95/p99 percentile tiers; no country, merchant or time blocklists. 3) Fix data first — confirm the timestamp unit and reference time, complete device history, log real review outcomes.
PILOT: Phase 1 shadow mode (score and log, no customer action) → Phase 2 tiered human review → Phase 3 decision gate. Measure lift (tier-wise fraud-label rate vs 1.64% baseline), load (alerts and analyst workload per tier), and truth (confirmed review outcomes once logged). Gate: scale only if Tier 1 outperforms Tier 2. We deliberately set no ROI or target numbers — those come from the pilot baseline.
SAFEGUARDS: Human in the loop; no automated declines on a single flag.
CAVEATS: All alerts are simulated and rule-generated; the fraud label is the only original outcome field. No ROI, savings or fraud-loss impact is claimed anywhere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PaySphere FinTech  |  Digital Payment Insight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05840"/>
            <a:ext cx="65836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PaySphere FinTech  |  Digital Payment Insight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rgbClr val="0A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PaySphere FinTech  |  Digital Payment Insight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EXECUTIVE TAKEAWAY  |  PAYSPHERE FINTECH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61661"/>
            <a:ext cx="65836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Digital Payment Insights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What 182,125 training transactions show about where scarce analyst time should go first.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83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182,125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32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training transactions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4983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5,000 | 8,743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5532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users | device IDs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983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2,990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5532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labelled fraud cases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4983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1.64%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5532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fraud-label rate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FINDING 1  |  TRANSACTION AMOUNT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Normal spend is small and skewed: an IQR rule flags 6× more transactions than a 99th-percentile tier</a:t>
            </a:r>
            <a:endParaRPr lang="en-US" sz="2800" dirty="0"/>
          </a:p>
        </p:txBody>
      </p:sp>
      <p:sp>
        <p:nvSpPr>
          <p:cNvPr id="4" name="Amount distribution chart frame"/>
          <p:cNvSpPr/>
          <p:nvPr/>
        </p:nvSpPr>
        <p:spPr>
          <a:xfrm>
            <a:off x="548640" y="1600200"/>
            <a:ext cx="7040880" cy="3992880"/>
          </a:xfrm>
          <a:prstGeom prst="roundRect">
            <a:avLst>
              <a:gd name="adj" fmla="val 137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A1B33">
                <a:alpha val="10000"/>
              </a:srgbClr>
            </a:outerShdw>
          </a:effectLst>
        </p:spPr>
      </p:sp>
      <p:pic>
        <p:nvPicPr>
          <p:cNvPr id="5" name="Amount distribution chart" descr="Histogram of transaction amounts: right-skewed, peaking near 10 to 15, long tail to 1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858000" cy="3810000"/>
          </a:xfrm>
          <a:prstGeom prst="rect">
            <a:avLst/>
          </a:prstGeom>
        </p:spPr>
      </p:pic>
      <p:sp>
        <p:nvSpPr>
          <p:cNvPr id="6" name="Stat tile"/>
          <p:cNvSpPr/>
          <p:nvPr/>
        </p:nvSpPr>
        <p:spPr>
          <a:xfrm>
            <a:off x="7818120" y="160020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01000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20.07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Median amount</a:t>
            </a:r>
            <a:endParaRPr lang="en-US" sz="1200" dirty="0"/>
          </a:p>
        </p:txBody>
      </p:sp>
      <p:sp>
        <p:nvSpPr>
          <p:cNvPr id="9" name="Stat tile"/>
          <p:cNvSpPr/>
          <p:nvPr/>
        </p:nvSpPr>
        <p:spPr>
          <a:xfrm>
            <a:off x="9811512" y="160020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994392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27.30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9994392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Mean (&gt; median)</a:t>
            </a:r>
            <a:endParaRPr lang="en-US" sz="1200" dirty="0"/>
          </a:p>
        </p:txBody>
      </p:sp>
      <p:sp>
        <p:nvSpPr>
          <p:cNvPr id="12" name="Stat tile"/>
          <p:cNvSpPr/>
          <p:nvPr/>
        </p:nvSpPr>
        <p:spPr>
          <a:xfrm>
            <a:off x="7818120" y="265176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0100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72.86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95th percentile</a:t>
            </a:r>
            <a:endParaRPr lang="en-US" sz="1200" dirty="0"/>
          </a:p>
        </p:txBody>
      </p:sp>
      <p:sp>
        <p:nvSpPr>
          <p:cNvPr id="15" name="Stat tile"/>
          <p:cNvSpPr/>
          <p:nvPr/>
        </p:nvSpPr>
        <p:spPr>
          <a:xfrm>
            <a:off x="9811512" y="265176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994392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124.50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9994392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99th percentile</a:t>
            </a:r>
            <a:endParaRPr lang="en-US" sz="1200" dirty="0"/>
          </a:p>
        </p:txBody>
      </p:sp>
      <p:sp>
        <p:nvSpPr>
          <p:cNvPr id="18" name="Stat tile"/>
          <p:cNvSpPr/>
          <p:nvPr/>
        </p:nvSpPr>
        <p:spPr>
          <a:xfrm>
            <a:off x="7818120" y="3703320"/>
            <a:ext cx="382219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01000" y="379476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6.19%  vs  1.00%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420624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IQR outliers (11,278) vs share above p99 (~1,821, by definition)</a:t>
            </a:r>
            <a:endParaRPr lang="en-US" sz="1200" dirty="0"/>
          </a:p>
        </p:txBody>
      </p:sp>
      <p:sp>
        <p:nvSpPr>
          <p:cNvPr id="21" name="Business meaning card"/>
          <p:cNvSpPr/>
          <p:nvPr/>
        </p:nvSpPr>
        <p:spPr>
          <a:xfrm>
            <a:off x="7818120" y="4754880"/>
            <a:ext cx="3822192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19288" y="487375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BUSINESS MEANING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019288" y="513892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Anchor amount alerts to percentile tiers (p95, p99), not an IQR fence.</a:t>
            </a:r>
            <a:endParaRPr lang="en-US" sz="1300" dirty="0"/>
          </a:p>
        </p:txBody>
      </p:sp>
      <p:sp>
        <p:nvSpPr>
          <p:cNvPr id="24" name="Source note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baseline statistics (n = 182,125) and supplied amount_distribution chart (histogram excludes values above the 99.5th percentile). Amount units are unspecified. Ranges are global; segment-level ranges rely on synthetic segments.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FINDING 2  |  DEVICE NOVELTY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First-seen devices carry no extra fraud-label risk, yet drive the largest share of simulated alerts</a:t>
            </a:r>
            <a:endParaRPr lang="en-US" sz="2800" dirty="0"/>
          </a:p>
        </p:txBody>
      </p:sp>
      <p:sp>
        <p:nvSpPr>
          <p:cNvPr id="4" name="Device comparison chart frame"/>
          <p:cNvSpPr/>
          <p:nvPr/>
        </p:nvSpPr>
        <p:spPr>
          <a:xfrm>
            <a:off x="548640" y="1600200"/>
            <a:ext cx="7040880" cy="3611880"/>
          </a:xfrm>
          <a:prstGeom prst="roundRect">
            <a:avLst>
              <a:gd name="adj" fmla="val 15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A1B33">
                <a:alpha val="10000"/>
              </a:srgbClr>
            </a:outerShdw>
          </a:effectLst>
        </p:spPr>
      </p:sp>
      <p:pic>
        <p:nvPicPr>
          <p:cNvPr id="5" name="Device comparison chart" descr="Bar chart of fraud-label rate by device novelty proxy: previously seen 1.65%, first seen 1.51%, unknown 1.46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858000" cy="3429000"/>
          </a:xfrm>
          <a:prstGeom prst="rect">
            <a:avLst/>
          </a:prstGeom>
        </p:spPr>
      </p:pic>
      <p:sp>
        <p:nvSpPr>
          <p:cNvPr id="6" name="Stat tile"/>
          <p:cNvSpPr/>
          <p:nvPr/>
        </p:nvSpPr>
        <p:spPr>
          <a:xfrm>
            <a:off x="7818120" y="1600200"/>
            <a:ext cx="3822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01000" y="169164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0.91×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253996"/>
            <a:ext cx="345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Fraud-label rate, first-seen vs previously seen devices (1.51% vs 1.65%)</a:t>
            </a:r>
            <a:endParaRPr lang="en-US" sz="1200" dirty="0"/>
          </a:p>
        </p:txBody>
      </p:sp>
      <p:sp>
        <p:nvSpPr>
          <p:cNvPr id="9" name="Stat tile"/>
          <p:cNvSpPr/>
          <p:nvPr/>
        </p:nvSpPr>
        <p:spPr>
          <a:xfrm>
            <a:off x="7818120" y="2926080"/>
            <a:ext cx="3822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01000" y="301752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~32%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579876"/>
            <a:ext cx="3456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of the simulated alert queue is "first-seen user-device pair" (~5.4k alerts)</a:t>
            </a:r>
            <a:endParaRPr lang="en-US" sz="1200" dirty="0"/>
          </a:p>
        </p:txBody>
      </p:sp>
      <p:sp>
        <p:nvSpPr>
          <p:cNvPr id="12" name="Business meaning card"/>
          <p:cNvSpPr/>
          <p:nvPr/>
        </p:nvSpPr>
        <p:spPr>
          <a:xfrm>
            <a:off x="7818120" y="4251960"/>
            <a:ext cx="3822192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19288" y="437083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BUSINESS MEANING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019288" y="4636008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Device novelty alone is a weak review trigger. Use it as context inside a multi-signal score, not as a standalone alert.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3492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Caveats: "first seen" is a training-data proxy, not a verified new-device flag. Device attributes are synthetic. Differences are small and not significance-tested.</a:t>
            </a:r>
            <a:endParaRPr lang="en-US" sz="1100" dirty="0"/>
          </a:p>
        </p:txBody>
      </p:sp>
      <p:sp>
        <p:nvSpPr>
          <p:cNvPr id="16" name="Source note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supplied device_comparison and alert_reasons charts; rates and queue size read from chart bars (approximate). Baseline fraud-label rate 1.64%. Fraud label is original; device flags and alerts are synthetic.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FINDING 3  |  UNUSUAL PATTERNS ARE DIFFUSE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Risk is diffuse: no country code, merchant category or time bucket justifies a blanket rule</a:t>
            </a:r>
            <a:endParaRPr lang="en-US" sz="2800" dirty="0"/>
          </a:p>
        </p:txBody>
      </p:sp>
      <p:sp>
        <p:nvSpPr>
          <p:cNvPr id="4" name="Country code fraud-rate chart frame"/>
          <p:cNvSpPr/>
          <p:nvPr/>
        </p:nvSpPr>
        <p:spPr>
          <a:xfrm>
            <a:off x="548640" y="1600200"/>
            <a:ext cx="6035040" cy="3694176"/>
          </a:xfrm>
          <a:prstGeom prst="roundRect">
            <a:avLst>
              <a:gd name="adj" fmla="val 148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A1B33">
                <a:alpha val="10000"/>
              </a:srgbClr>
            </a:outerShdw>
          </a:effectLst>
        </p:spPr>
      </p:sp>
      <p:pic>
        <p:nvPicPr>
          <p:cNvPr id="5" name="Country code fraud-rate chart" descr="Bar chart of fraud-label rate by encoded country code; highest is code 27 at about 2.04 perc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5852160" cy="3511296"/>
          </a:xfrm>
          <a:prstGeom prst="rect">
            <a:avLst/>
          </a:prstGeom>
        </p:spPr>
      </p:pic>
      <p:sp>
        <p:nvSpPr>
          <p:cNvPr id="6" name="Pattern card 1"/>
          <p:cNvSpPr/>
          <p:nvPr/>
        </p:nvSpPr>
        <p:spPr>
          <a:xfrm>
            <a:off x="6995160" y="1600200"/>
            <a:ext cx="4645152" cy="1133856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196328" y="1691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GEOGRAPHY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196328" y="1911096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2.04% top code vs 1.64% baseline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196328" y="2258568"/>
            <a:ext cx="4242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Code 27 is 1.24× baseline; 14 of the 15 codes shown sit between 1.63% and 1.85%.</a:t>
            </a:r>
            <a:endParaRPr lang="en-US" sz="1100" dirty="0"/>
          </a:p>
        </p:txBody>
      </p:sp>
      <p:sp>
        <p:nvSpPr>
          <p:cNvPr id="10" name="Pattern card 2"/>
          <p:cNvSpPr/>
          <p:nvPr/>
        </p:nvSpPr>
        <p:spPr>
          <a:xfrm>
            <a:off x="6995160" y="2862072"/>
            <a:ext cx="4645152" cy="1133856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96328" y="2953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TIME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196328" y="3172968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~228 transactions per hourly bin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96328" y="3520440"/>
            <a:ext cx="4242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All bins except the final partial one stay within about ±20%. No spike; clock-hour not verifiable.</a:t>
            </a:r>
            <a:endParaRPr lang="en-US" sz="1100" dirty="0"/>
          </a:p>
        </p:txBody>
      </p:sp>
      <p:sp>
        <p:nvSpPr>
          <p:cNvPr id="14" name="Pattern card 3"/>
          <p:cNvSpPr/>
          <p:nvPr/>
        </p:nvSpPr>
        <p:spPr>
          <a:xfrm>
            <a:off x="6995160" y="4123944"/>
            <a:ext cx="4645152" cy="1133856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96328" y="42153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MERCHANT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196328" y="4434840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8.9%–10.1% synthetic alert rate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196328" y="4782312"/>
            <a:ext cx="4242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Top 15 encoded categories span just 1.13×. Rates reflect rules, not proven risk.</a:t>
            </a:r>
            <a:endParaRPr lang="en-US" sz="1100" dirty="0"/>
          </a:p>
        </p:txBody>
      </p:sp>
      <p:sp>
        <p:nvSpPr>
          <p:cNvPr id="18" name="Business meaning band"/>
          <p:cNvSpPr/>
          <p:nvPr/>
        </p:nvSpPr>
        <p:spPr>
          <a:xfrm>
            <a:off x="548640" y="5440680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9" name="Business meaning text"/>
          <p:cNvSpPr txBox="1"/>
          <p:nvPr/>
        </p:nvSpPr>
        <p:spPr>
          <a:xfrm>
            <a:off x="77724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BUSINESS MEANING   </a:t>
            </a:r>
            <a:r>
              <a:rPr lang="en-US" sz="1300" dirty="0">
                <a:solidFill>
                  <a:schemeClr val="bg1"/>
                </a:solidFill>
              </a:rPr>
              <a:t>Blanket country, merchant or time rules add friction for little lift. Combine signals.</a:t>
            </a:r>
            <a:endParaRPr lang="en-US" sz="1000" dirty="0"/>
          </a:p>
        </p:txBody>
      </p:sp>
      <p:sp>
        <p:nvSpPr>
          <p:cNvPr id="20" name="Source note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supplied country_code_fraud_rates (n ≥ 100 per code; 15 codes shown), elapsed_hour_volume and merchant_alert_rates charts; values read from chart (approximate). Country codes and merchant categories are encoded IDs; timestamp unit and reference time are unverified.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MONITORING PRIORITIES  |  SIMULATED REVIEW QUEUE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Two single-signal rules generate ~63% of the simulated review queue — the first place to tighten</a:t>
            </a:r>
            <a:endParaRPr lang="en-US" sz="2800" dirty="0"/>
          </a:p>
        </p:txBody>
      </p:sp>
      <p:sp>
        <p:nvSpPr>
          <p:cNvPr id="4" name="Alert reasons chart frame"/>
          <p:cNvSpPr/>
          <p:nvPr/>
        </p:nvSpPr>
        <p:spPr>
          <a:xfrm>
            <a:off x="548640" y="1600200"/>
            <a:ext cx="7040880" cy="3611880"/>
          </a:xfrm>
          <a:prstGeom prst="roundRect">
            <a:avLst>
              <a:gd name="adj" fmla="val 151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A1B33">
                <a:alpha val="10000"/>
              </a:srgbClr>
            </a:outerShdw>
          </a:effectLst>
        </p:spPr>
      </p:sp>
      <p:pic>
        <p:nvPicPr>
          <p:cNvPr id="5" name="Alert reasons chart" descr="Bar chart of simulated review queue by rule-based reason: first-seen device about 5,370; low-tail gap about 5,230; multiple signals about 3,950; high amount about 1,650; incomplete device history about 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858000" cy="3429000"/>
          </a:xfrm>
          <a:prstGeom prst="rect">
            <a:avLst/>
          </a:prstGeom>
        </p:spPr>
      </p:pic>
      <p:sp>
        <p:nvSpPr>
          <p:cNvPr id="6" name="Tier card 1"/>
          <p:cNvSpPr/>
          <p:nvPr/>
        </p:nvSpPr>
        <p:spPr>
          <a:xfrm>
            <a:off x="7818120" y="1600200"/>
            <a:ext cx="3822192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7" name="Tier number 1"/>
          <p:cNvSpPr/>
          <p:nvPr/>
        </p:nvSpPr>
        <p:spPr>
          <a:xfrm>
            <a:off x="8001000" y="19110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0100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16916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REVIEW FIRST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1929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Multiple signals + ≥ p99 amount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313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~5.6k alerts  |  ~34% of queue</a:t>
            </a:r>
            <a:endParaRPr lang="en-US" sz="1200" dirty="0"/>
          </a:p>
        </p:txBody>
      </p:sp>
      <p:sp>
        <p:nvSpPr>
          <p:cNvPr id="12" name="Tier card 2"/>
          <p:cNvSpPr/>
          <p:nvPr/>
        </p:nvSpPr>
        <p:spPr>
          <a:xfrm>
            <a:off x="7818120" y="2807208"/>
            <a:ext cx="3822192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3" name="Tier number 2"/>
          <p:cNvSpPr/>
          <p:nvPr/>
        </p:nvSpPr>
        <p:spPr>
          <a:xfrm>
            <a:off x="8001000" y="31181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0100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28986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MONITOR, SAMPLE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3136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First-seen device, low-tail gap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64108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~10.6k alerts  |  ~63% of queue</a:t>
            </a:r>
            <a:endParaRPr lang="en-US" sz="1200" dirty="0"/>
          </a:p>
        </p:txBody>
      </p:sp>
      <p:sp>
        <p:nvSpPr>
          <p:cNvPr id="18" name="Tier card 3"/>
          <p:cNvSpPr/>
          <p:nvPr/>
        </p:nvSpPr>
        <p:spPr>
          <a:xfrm>
            <a:off x="7818120" y="4014216"/>
            <a:ext cx="3822192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9" name="Tier number 3"/>
          <p:cNvSpPr/>
          <p:nvPr/>
        </p:nvSpPr>
        <p:spPr>
          <a:xfrm>
            <a:off x="8001000" y="43251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0100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41056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FIX THE DATA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Incomplete device history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41080" y="4727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~0.5k alerts  |  ~3% of queue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3492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Tiering is a design proposal. The queue is synthetic and has no outcome labels, so tier-level hit rates must be proven in the pilot.</a:t>
            </a:r>
            <a:endParaRPr lang="en-US" sz="1100" dirty="0"/>
          </a:p>
        </p:txBody>
      </p:sp>
      <p:sp>
        <p:nvSpPr>
          <p:cNvPr id="25" name="Source note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supplied alert_reasons chart; counts read from chart bars (~5,370 | ~5,230 | ~3,950 | ~1,660 | ~520; total ~16.7k) and tier sums computed from them. Alerts are synthetic, rule-generated — not actual manual reviews or proven fraud.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MANAGEMENT RECOMMENDATION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Approve a three-tier, human-reviewed pilot — and never block on a single flag</a:t>
            </a:r>
            <a:endParaRPr lang="en-US" sz="3200" dirty="0"/>
          </a:p>
        </p:txBody>
      </p:sp>
      <p:sp>
        <p:nvSpPr>
          <p:cNvPr id="4" name="Rec number 1"/>
          <p:cNvSpPr/>
          <p:nvPr/>
        </p:nvSpPr>
        <p:spPr>
          <a:xfrm>
            <a:off x="548640" y="19385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Tier the queue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402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Send multi-signal and ≥ p99 amount cases to analysts first; move first-seen device and low-tail gap to sampled monitoring.</a:t>
            </a:r>
            <a:endParaRPr lang="en-US" sz="1300" dirty="0"/>
          </a:p>
        </p:txBody>
      </p:sp>
      <p:sp>
        <p:nvSpPr>
          <p:cNvPr id="8" name="Rec number 2"/>
          <p:cNvSpPr/>
          <p:nvPr/>
        </p:nvSpPr>
        <p:spPr>
          <a:xfrm>
            <a:off x="548640" y="33101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00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Retire blunt rules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11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Replace the IQR fence with p95/p99 tiers. No country, merchant or time blocklists.</a:t>
            </a:r>
            <a:endParaRPr lang="en-US" sz="1300" dirty="0"/>
          </a:p>
        </p:txBody>
      </p:sp>
      <p:sp>
        <p:nvSpPr>
          <p:cNvPr id="12" name="Rec number 3"/>
          <p:cNvSpPr/>
          <p:nvPr/>
        </p:nvSpPr>
        <p:spPr>
          <a:xfrm>
            <a:off x="548640" y="46817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81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5720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Fix data before scaling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Confirm the timestamp unit and reference, complete device history, and log real review outcomes.</a:t>
            </a:r>
            <a:endParaRPr lang="en-US" sz="1300" dirty="0"/>
          </a:p>
        </p:txBody>
      </p:sp>
      <p:sp>
        <p:nvSpPr>
          <p:cNvPr id="16" name="Pilot plan panel"/>
          <p:cNvSpPr/>
          <p:nvPr/>
        </p:nvSpPr>
        <p:spPr>
          <a:xfrm>
            <a:off x="6583680" y="1828800"/>
            <a:ext cx="5056632" cy="3977640"/>
          </a:xfrm>
          <a:prstGeom prst="roundRect">
            <a:avLst>
              <a:gd name="adj" fmla="val 1839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1993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PILOT MEASUREMENT PLAN</a:t>
            </a:r>
            <a:endParaRPr lang="en-US" sz="1100" dirty="0"/>
          </a:p>
        </p:txBody>
      </p:sp>
      <p:sp>
        <p:nvSpPr>
          <p:cNvPr id="18" name="Phase 1"/>
          <p:cNvSpPr/>
          <p:nvPr/>
        </p:nvSpPr>
        <p:spPr>
          <a:xfrm>
            <a:off x="6858000" y="2377440"/>
            <a:ext cx="1371600" cy="6858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Shadow mode</a:t>
            </a:r>
            <a:endParaRPr lang="en-US" sz="1200" dirty="0"/>
          </a:p>
        </p:txBody>
      </p:sp>
      <p:sp>
        <p:nvSpPr>
          <p:cNvPr id="20" name="Phase 2"/>
          <p:cNvSpPr/>
          <p:nvPr/>
        </p:nvSpPr>
        <p:spPr>
          <a:xfrm>
            <a:off x="8339328" y="2377440"/>
            <a:ext cx="1371600" cy="6858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39328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Tiered human review</a:t>
            </a:r>
            <a:endParaRPr lang="en-US" sz="1200" dirty="0"/>
          </a:p>
        </p:txBody>
      </p:sp>
      <p:sp>
        <p:nvSpPr>
          <p:cNvPr id="22" name="Phase 3"/>
          <p:cNvSpPr/>
          <p:nvPr/>
        </p:nvSpPr>
        <p:spPr>
          <a:xfrm>
            <a:off x="9820656" y="2377440"/>
            <a:ext cx="1371600" cy="6858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20656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Decision gate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291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Lift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32918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Tier-wise fraud-label rate vs the 1.64% baseline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8587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Load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385876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Alert volume and analyst workload per tier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4256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Truth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4425696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Confirmed review outcomes, once logged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5074920"/>
            <a:ext cx="4507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Gate: scale only if Tier 1 shows a higher confirmed-risk rate than Tier 2. Targets are set from the pilot baseline, not assumed today.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Decision requested: approve the pilot scope. All alert figures are simulated; no customer-facing action is taken in shadow mode.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Sphere Executive">
  <a:themeElements>
    <a:clrScheme name="PaySphere Executive">
      <a:dk1>
        <a:srgbClr val="0A1B33"/>
      </a:dk1>
      <a:lt1>
        <a:srgbClr val="FFFFFF"/>
      </a:lt1>
      <a:dk2>
        <a:srgbClr val="13294B"/>
      </a:dk2>
      <a:lt2>
        <a:srgbClr val="F2F5F9"/>
      </a:lt2>
      <a:accent1>
        <a:srgbClr val="0B8A83"/>
      </a:accent1>
      <a:accent2>
        <a:srgbClr val="E8A23A"/>
      </a:accent2>
      <a:accent3>
        <a:srgbClr val="2FD0C4"/>
      </a:accent3>
      <a:accent4>
        <a:srgbClr val="55657A"/>
      </a:accent4>
      <a:accent5>
        <a:srgbClr val="A9B8CC"/>
      </a:accent5>
      <a:accent6>
        <a:srgbClr val="D5DDE8"/>
      </a:accent6>
      <a:hlink>
        <a:srgbClr val="0B8A83"/>
      </a:hlink>
      <a:folHlink>
        <a:srgbClr val="55657A"/>
      </a:folHlink>
    </a:clrScheme>
    <a:fontScheme name="PaySphere Executiv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2042</Words>
  <Application>Microsoft Office PowerPoint</Application>
  <PresentationFormat>Widescreen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PaySphere Executive</vt:lpstr>
      <vt:lpstr>Digital Payment Insights</vt:lpstr>
      <vt:lpstr>Normal spend is small and skewed: an IQR rule flags 6× more transactions than a 99th-percentile tier</vt:lpstr>
      <vt:lpstr>First-seen devices carry no extra fraud-label risk, yet drive the largest share of simulated alerts</vt:lpstr>
      <vt:lpstr>Risk is diffuse: no country code, merchant category or time bucket justifies a blanket rule</vt:lpstr>
      <vt:lpstr>Two single-signal rules generate ~63% of the simulated review queue — the first place to tighten</vt:lpstr>
      <vt:lpstr>Approve a three-tier, human-reviewed pilot — and never block on a single flag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PaySphere FinTech — Digital Payment Insight</dc:title>
  <dc:subject>PptxGenJS Presentation</dc:subject>
  <dc:creator>Strategy team</dc:creator>
  <cp:lastModifiedBy>Jashwanth J</cp:lastModifiedBy>
  <cp:revision>3</cp:revision>
  <dcterms:created xsi:type="dcterms:W3CDTF">2026-10-13T07:36:53Z</dcterms:created>
  <dcterms:modified xsi:type="dcterms:W3CDTF">2026-10-13T08:46:12Z</dcterms:modified>
</cp:coreProperties>
</file>